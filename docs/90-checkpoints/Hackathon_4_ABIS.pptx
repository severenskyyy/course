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3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Просрочки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7AE60"/>
              </a:solidFill>
              <a:effectLst/>
            </c:spPr>
          </c:dPt>
          <c:dPt>
            <c:idx val="1"/>
            <c:bubble3D val="0"/>
            <c:spPr>
              <a:solidFill>
                <a:srgbClr val="F9616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В сроке (513)</c:v>
                </c:pt>
                <c:pt idx="1">
                  <c:v>Просрочено (87)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513</c:v>
                </c:pt>
                <c:pt idx="1">
                  <c:v>87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188720"/>
            <a:ext cx="109728" cy="3840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1188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ФИНАЛЬНАЯ ЗАЩИТА · ХАКАТОН 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916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АБИС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1005840" y="3017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Автоматизированная библиотечно-информационная система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3520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каталога, выдач и просрочек учебной библиотеки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4206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Релиз v2.2-lite · готов к защите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5486400"/>
            <a:ext cx="10698480" cy="0"/>
          </a:xfrm>
          <a:prstGeom prst="line">
            <a:avLst/>
          </a:prstGeom>
          <a:noFill/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6235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РТУ МИРЭА · Дисциплина «Основы проектной деятельности» · Кейс 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Команда: Кирбитов А.Е. · Рабаданов А.С. · Гуков Я.Р. · Коптилин И.Р.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Путь команды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стартовой идеи до релиза за 14 недель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1247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9144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642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CP1 · Хакатон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0" y="16642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&amp; Vision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Карточка, устав, домен, персонажи, MoSCoW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0" y="155448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Защищён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11247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743200"/>
            <a:ext cx="91440" cy="105156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8529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CP2 · Хакатон 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3246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II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28529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9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Requirements &amp; Design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3246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Cases, USM, BPMN, ERD, wireframes, mock-демо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274320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C9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Защищён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11247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931920"/>
            <a:ext cx="91440" cy="1051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0416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CP3 · Хакатон 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4434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III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40416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&amp; Integration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83280" y="4434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Финальное ТЗ, рабочая сборка, CSV-обмен, pytest 17/17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0" y="393192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Защищён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7200" y="5120640"/>
            <a:ext cx="11247120" cy="1051560"/>
          </a:xfrm>
          <a:prstGeom prst="rect">
            <a:avLst/>
          </a:prstGeom>
          <a:solidFill>
            <a:srgbClr val="E8EE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5120640"/>
            <a:ext cx="91440" cy="10515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52303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CP4 · Хакатон 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5623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IV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83280" y="52303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Defense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383280" y="5623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v2.2-lite + 35 MD + полное демо end-to-end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29600" y="512064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Сегодня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0" y="6675120"/>
            <a:ext cx="12161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720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CP1 · CP2 · CP3 · CP4 — docs/90-checkpoints/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686800" y="6720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2 / 21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Проблема и решение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мешало библиотеке и что мы сделали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577840" cy="4754880"/>
          </a:xfrm>
          <a:prstGeom prst="rect">
            <a:avLst/>
          </a:prstGeom>
          <a:solidFill>
            <a:srgbClr val="E8EE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73152" cy="47548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Проблема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Excel-таблицы и ручной учёт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56032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Невидимые просрочки — не понятно, кто превысил срок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Ручной двойной ввод между Excel и 1С (бухгалтерия)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 в датах и человеческий фактор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Невозможно быстро ответить «у кого книга X»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дашборда KPI и сводных отчётов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разъезжается между копиями таблиц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554480"/>
            <a:ext cx="5577840" cy="4754880"/>
          </a:xfrm>
          <a:prstGeom prst="rect">
            <a:avLst/>
          </a:prstGeom>
          <a:solidFill>
            <a:srgbClr val="E8EE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554480"/>
            <a:ext cx="73152" cy="4754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Решение АБИС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09360" y="21031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Веб-система + 1С через CSV-обмен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256032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 KPI с долей просрочек в реальном времени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Двусторонний CSV-обмен с 1С — двойной ввод закрыт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Валидация: BR-01..BR-06 защищают от ошибок ввода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Поиск/фильтр по любому полю каталога и журнала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экранов под все задачи библиотекаря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Аудит-журнал всех операций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6675120"/>
            <a:ext cx="12161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720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DOC-DIS-001 · DOC-DIS-003 · Discovery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0" y="6720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3 / 21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Архитектура решения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REST API + 1С через CSV · 3 контура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3017520" cy="1280160"/>
          </a:xfrm>
          <a:prstGeom prst="rect">
            <a:avLst/>
          </a:prstGeom>
          <a:solidFill>
            <a:srgbClr val="E8EEF9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(React 18)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экранов · Tailwind · Vite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dist (~200 KB)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737360"/>
            <a:ext cx="3017520" cy="1280160"/>
          </a:xfrm>
          <a:prstGeom prst="rect">
            <a:avLst/>
          </a:prstGeom>
          <a:solidFill>
            <a:srgbClr val="E8EEF9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783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(FastAPI)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24231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роутеров · JWT · 17 pytest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· alembic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503920" y="1737360"/>
            <a:ext cx="3017520" cy="1280160"/>
          </a:xfrm>
          <a:prstGeom prst="rect">
            <a:avLst/>
          </a:prstGeom>
          <a:solidFill>
            <a:srgbClr val="E8EEF9"/>
          </a:solidFill>
          <a:ln w="25400">
            <a:solidFill>
              <a:srgbClr val="F2C9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1783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1С:Предприятие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8.3 учебная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503920" y="24231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Справочники + документы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регистр + отчёт СКД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0" y="2377440"/>
            <a:ext cx="91440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611880" y="24688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JSON + JWT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(контур A)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589520" y="2377440"/>
            <a:ext cx="91440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543800" y="24688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(UTF-8 BOM)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(контур B)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383280"/>
            <a:ext cx="301752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3383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SQLite — library.db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80760" y="3017520"/>
            <a:ext cx="0" cy="36576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457200" y="4297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Интеграционные точки I-01…I-07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4846320"/>
            <a:ext cx="1508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846320"/>
            <a:ext cx="150876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5029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I-01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54406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books.csv импорт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084832" y="4846320"/>
            <a:ext cx="1508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84832" y="4846320"/>
            <a:ext cx="150876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84832" y="5029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I-02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130552" y="54406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readers.csv импорт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712464" y="4846320"/>
            <a:ext cx="1508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12464" y="4846320"/>
            <a:ext cx="150876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12464" y="5029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I-03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758184" y="54406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loans.csv импорт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340096" y="4846320"/>
            <a:ext cx="1508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40096" y="4846320"/>
            <a:ext cx="150876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40096" y="5029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I-04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85816" y="54406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экспорт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967728" y="4846320"/>
            <a:ext cx="1508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67728" y="4846320"/>
            <a:ext cx="150876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67728" y="5029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I-05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013448" y="54406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экспорт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595360" y="4846320"/>
            <a:ext cx="1508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95360" y="4846320"/>
            <a:ext cx="1508760" cy="7315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95360" y="5029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I-06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641080" y="54406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/1c/status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0222992" y="4846320"/>
            <a:ext cx="1508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222992" y="4846320"/>
            <a:ext cx="150876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222992" y="5029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I-07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0268712" y="54406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↔ Frontend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0" y="6675120"/>
            <a:ext cx="12161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6720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DOC-SPC-002 · DOC-SPC-003 · Архитектура и интеграции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686800" y="6720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4 / 21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ERD — логическая модель данных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сущностей · 3НФ · DOC-DAT-001</a:t>
            </a:r>
            <a:endParaRPr lang="en-US" sz="1400" dirty="0"/>
          </a:p>
        </p:txBody>
      </p:sp>
      <p:pic>
        <p:nvPicPr>
          <p:cNvPr id="6" name="Image 0" descr="/home/claude/output/Course_Final/docs/04-architecture/image/06-ERD-mediflow-styl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17320"/>
            <a:ext cx="11247120" cy="4983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675120"/>
            <a:ext cx="12161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720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DOC-DAT-001 · ERD · 7 сущностей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86800" y="6720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05 / 21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BPMN — выдача · возврат · просрочка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диаграммы · BR-01..BR-06 · DOC-ARC-001</a:t>
            </a:r>
            <a:endParaRPr lang="en-US" sz="1400" dirty="0"/>
          </a:p>
        </p:txBody>
      </p:sp>
      <p:pic>
        <p:nvPicPr>
          <p:cNvPr id="6" name="Image 0" descr="/home/claude/output/Course_Final/docs/04-architecture/image/07-BPMN-mediflow-styl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0" y="1371600"/>
            <a:ext cx="8503920" cy="5074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675120"/>
            <a:ext cx="12161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720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DOC-ARC-001 · BPMN 2.0 · 4 swim lanes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86800" y="6720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06 / 21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UML Class — связь компонентов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Доменные классы Backend + контексты Frontend · DOC-ARC-004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577840" cy="4754880"/>
          </a:xfrm>
          <a:prstGeom prst="rect">
            <a:avLst/>
          </a:prstGeom>
          <a:solidFill>
            <a:srgbClr val="E8EE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73152" cy="47548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45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(FastAPI / SQLAlchemy)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2103120"/>
            <a:ext cx="5212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103120"/>
            <a:ext cx="54864" cy="566928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1488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35915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«PK», role: UserRole, password_hash, reader_id «FK»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85800" y="2761488"/>
            <a:ext cx="5212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761488"/>
            <a:ext cx="54864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80720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01752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reader_id «PK», fio, group · borrows → Loan «1..*»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85800" y="3419856"/>
            <a:ext cx="5212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419856"/>
            <a:ext cx="54864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46557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367588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book_code «PK», title, author, year, udk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85800" y="4078224"/>
            <a:ext cx="5212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4078224"/>
            <a:ext cx="54864" cy="5669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1239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433425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loan_id «PK», reader_id «FK», book_code «FK», даты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is_active() + days_overdue()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85800" y="4736592"/>
            <a:ext cx="5212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4736592"/>
            <a:ext cx="54864" cy="566928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7823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AuditLog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499262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«PK», user_id, entity_type, action, details, timestamp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85800" y="5394960"/>
            <a:ext cx="5212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5394960"/>
            <a:ext cx="54864" cy="5669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4406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«service» LoanService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565099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create() + return() + check_BR01..06()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126480" y="1554480"/>
            <a:ext cx="5577840" cy="4754880"/>
          </a:xfrm>
          <a:prstGeom prst="rect">
            <a:avLst/>
          </a:prstGeom>
          <a:solidFill>
            <a:srgbClr val="E8EE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0" y="1554480"/>
            <a:ext cx="73152" cy="4754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1645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(React + TypeScript)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55080" y="2103120"/>
            <a:ext cx="5212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55080" y="2103120"/>
            <a:ext cx="54864" cy="71323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21488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«context» AuthContext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92240" y="2377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token, role · login() · logout() · isAuthorized(role)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355080" y="2907792"/>
            <a:ext cx="5212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55080" y="2907792"/>
            <a:ext cx="54864" cy="71323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29535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«HOC» RoleGuard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92240" y="31821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render(children, allowedRoles[]) · оборачивает Page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355080" y="3712464"/>
            <a:ext cx="5212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55080" y="3712464"/>
            <a:ext cx="54864" cy="7132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92240" y="375818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«service» ApiClient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92240" y="39867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baseUrl, token · get / post / put / delete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355080" y="4517136"/>
            <a:ext cx="5212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55080" y="4517136"/>
            <a:ext cx="54864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92240" y="456285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«abstract» Page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492240" y="479145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страниц: Login, Home, Catalog, Readers, Loans,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Overdue, Integration, Profile, Settings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355080" y="5321808"/>
            <a:ext cx="5212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55080" y="5321808"/>
            <a:ext cx="54864" cy="7132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92240" y="536752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492240" y="55961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BookCard, LoanForm, KpiWidget, OverdueTable, CsvUploader, Navbar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Связь: AuthContext / ApiClient ──HTTPS+JWT──► Backend Routers ──ORM──► SQLite. LoanService инкапсулирует BR-01..BR-06.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0" y="6675120"/>
            <a:ext cx="12161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6720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DOC-ARC-004 · UML Class · RoadMap CP4 п.3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686800" y="6720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07 / 21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— 9 экранов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увидит библиотекарь и админ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37360"/>
            <a:ext cx="457200" cy="457200"/>
          </a:xfrm>
          <a:prstGeom prst="oval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3 демо-логина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55448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1737360"/>
            <a:ext cx="457200" cy="457200"/>
          </a:xfrm>
          <a:prstGeom prst="oval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7492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80560" y="22860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 KPI + лента событий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155448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1737360"/>
            <a:ext cx="457200" cy="457200"/>
          </a:xfrm>
          <a:prstGeom prst="oval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1540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Catalog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21040" y="22860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Книги: CRUD + поиск + BR-01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06324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246120"/>
            <a:ext cx="457200" cy="457200"/>
          </a:xfrm>
          <a:prstGeom prst="oval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3444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Readers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080" y="37947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Читатели: CRUD + группы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97680" y="306324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0560" y="3246120"/>
            <a:ext cx="457200" cy="457200"/>
          </a:xfrm>
          <a:prstGeom prst="oval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7492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Loans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80560" y="37947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Выдача / возврат + BR-01..06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38160" y="306324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21040" y="3246120"/>
            <a:ext cx="457200" cy="457200"/>
          </a:xfrm>
          <a:prstGeom prst="oval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91540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Overdue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21040" y="37947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 + KPI + экспорт CSV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4754880"/>
            <a:ext cx="457200" cy="457200"/>
          </a:xfrm>
          <a:prstGeom prst="oval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234440" y="4754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0080" y="53035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1С-обмен (admin)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297680" y="457200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80560" y="4754880"/>
            <a:ext cx="457200" cy="457200"/>
          </a:xfrm>
          <a:prstGeom prst="oval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8056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074920" y="4754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480560" y="53035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Личный кабинет, пароли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138160" y="457200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21040" y="4754880"/>
            <a:ext cx="457200" cy="457200"/>
          </a:xfrm>
          <a:prstGeom prst="oval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210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915400" y="4754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Settings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321040" y="53035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Настройки админа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0" y="6675120"/>
            <a:ext cx="12161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6720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src/pages/*.tsx · DOC-ARC-003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686800" y="6720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8 / 21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— FastAPI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· JWT · SQLite · 17/17 pytest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27432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27432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роутеров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55448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554480"/>
            <a:ext cx="27432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828800"/>
            <a:ext cx="27432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28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8328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методов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55448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554480"/>
            <a:ext cx="2743200" cy="7315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828800"/>
            <a:ext cx="27432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30936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 RBAC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235440" y="1554480"/>
            <a:ext cx="24688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0" y="1554480"/>
            <a:ext cx="246888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0" y="1828800"/>
            <a:ext cx="24688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17/17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923544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926080"/>
            <a:ext cx="11247120" cy="3383280"/>
          </a:xfrm>
          <a:prstGeom prst="rect">
            <a:avLst/>
          </a:prstGeom>
          <a:solidFill>
            <a:srgbClr val="E8EE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926080"/>
            <a:ext cx="73152" cy="33832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017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backend/app/routers/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7240" y="3520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auth.py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971800" y="3520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Логин, refresh, logout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3520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books.py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58200" y="3520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книг + поиск/фильтры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" y="4160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readers.py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971800" y="4160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читателей + поиск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3640" y="4160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loans.py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58200" y="4160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Выдача (POST), возврат (PATCH)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7240" y="4800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reports.py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971800" y="4800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· /reports/overdue · audit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63640" y="4800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import_export.py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458200" y="4800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эндпоинтов CSV + статус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77240" y="5440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reservations.py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971800" y="5440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Бронирование (Could)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63640" y="5440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notifications.py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458200" y="5440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Уведомления (Could)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6675120"/>
            <a:ext cx="12161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6720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backend/app/ · spec/openapi.yaml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686800" y="6720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9 / 21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1С:Предприятие — учётная подсистема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Параллельная учётная модель с CSV-обменом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577840" cy="1371600"/>
          </a:xfrm>
          <a:prstGeom prst="rect">
            <a:avLst/>
          </a:prstGeom>
          <a:solidFill>
            <a:srgbClr val="E8EEF9"/>
          </a:solidFill>
          <a:ln w="19050">
            <a:solidFill>
              <a:srgbClr val="F2C9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417320" y="17373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Справочник «Книги»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214884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· Название · Автор книги · Год издания книги · УДК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554480"/>
            <a:ext cx="5577840" cy="1371600"/>
          </a:xfrm>
          <a:prstGeom prst="rect">
            <a:avLst/>
          </a:prstGeom>
          <a:solidFill>
            <a:srgbClr val="E8EEF9"/>
          </a:solidFill>
          <a:ln w="19050">
            <a:solidFill>
              <a:srgbClr val="F2C9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73736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7269480" y="17373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Справочник «Читатели»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69480" y="214884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· Фамилия и инициалы · Учебная группа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5577840" cy="1371600"/>
          </a:xfrm>
          <a:prstGeom prst="rect">
            <a:avLst/>
          </a:prstGeom>
          <a:solidFill>
            <a:srgbClr val="E8EEF9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9184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1417320" y="32918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Документ «ВыдачаКниги»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70332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 · Читатель · Экземпляр · Срок возврата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3108960"/>
            <a:ext cx="5577840" cy="1371600"/>
          </a:xfrm>
          <a:prstGeom prst="rect">
            <a:avLst/>
          </a:prstGeom>
          <a:solidFill>
            <a:srgbClr val="E8EEF9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329184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↩️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7269480" y="32918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Документ «ВозвратКниги»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269480" y="370332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 возврата · Расчёт дней просрочки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663440"/>
            <a:ext cx="5577840" cy="1371600"/>
          </a:xfrm>
          <a:prstGeom prst="rect">
            <a:avLst/>
          </a:prstGeom>
          <a:solidFill>
            <a:srgbClr val="E8EEF9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84632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1417320" y="48463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Регистр сведений «Выдачи»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17320" y="525780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Срез текущих активных выдач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4663440"/>
            <a:ext cx="5577840" cy="1371600"/>
          </a:xfrm>
          <a:prstGeom prst="rect">
            <a:avLst/>
          </a:prstGeom>
          <a:solidFill>
            <a:srgbClr val="E8EEF9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484632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7269480" y="48463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Отчёт СКД «Просрочки»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269480" y="525780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Фильтры по группе/периоду · экспорт CSV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6675120"/>
            <a:ext cx="12161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720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1c/1Cv8.dt · BSL · СКД · DOC-INT-003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686800" y="6720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10 / 21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DFD — поток данных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0 (контекстная диаграмма) · DOC-INT-001</a:t>
            </a:r>
            <a:endParaRPr lang="en-US" sz="1400" dirty="0"/>
          </a:p>
        </p:txBody>
      </p:sp>
      <p:pic>
        <p:nvPicPr>
          <p:cNvPr id="6" name="Image 0" descr="/home/claude/output/Course_Final/docs/04-architecture/image/08-DFD-level0-mediflow-styl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17320"/>
            <a:ext cx="11247120" cy="4983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675120"/>
            <a:ext cx="12161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720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DOC-INT-001 · DFD-0 · 5 процессов · 4 хранилища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86800" y="6720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11 / 21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DFD — декомпозиция «Управление выдачами»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1 · 6 подпроцессов 1.1–1.6</a:t>
            </a:r>
            <a:endParaRPr lang="en-US" sz="1400" dirty="0"/>
          </a:p>
        </p:txBody>
      </p:sp>
      <p:pic>
        <p:nvPicPr>
          <p:cNvPr id="6" name="Image 0" descr="/home/claude/output/Course_Final/docs/04-architecture/image/09-DFD-level1-mediflow-styl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17320"/>
            <a:ext cx="11247120" cy="4983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675120"/>
            <a:ext cx="12161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720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DOC-INT-001 · DFD-1 · BR-01..BR-06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86800" y="6720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12 / 21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Storming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Доменные события · 3 сюжета · BC + Layers · DOC-DIS-001</a:t>
            </a:r>
            <a:endParaRPr lang="en-US" sz="1400" dirty="0"/>
          </a:p>
        </p:txBody>
      </p:sp>
      <p:pic>
        <p:nvPicPr>
          <p:cNvPr id="6" name="Image 0" descr="/home/claude/output/Course_Final/docs/04-architecture/image/10-EventStorming-mediflow-styl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17320"/>
            <a:ext cx="11247120" cy="4983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675120"/>
            <a:ext cx="12161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720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DOC-DIS-001 · Event Storming · 3 сюжета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86800" y="6720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13 / 21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демо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шагов · ≈ 5 минут · полный цикл библиотекаря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37360"/>
            <a:ext cx="502920" cy="502920"/>
          </a:xfrm>
          <a:prstGeom prst="oval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Логин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 / library2026 → JWT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155448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1737360"/>
            <a:ext cx="502920" cy="502920"/>
          </a:xfrm>
          <a:prstGeom prst="oval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11480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Дашборд KPI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20440" y="2331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/ 150 / 600 / 87 (15%)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55448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737360"/>
            <a:ext cx="502920" cy="502920"/>
          </a:xfrm>
          <a:prstGeom prst="oval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Каталог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2331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«Толстой» + добавить новую книгу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098280" y="155448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81160" y="1737360"/>
            <a:ext cx="502920" cy="502920"/>
          </a:xfrm>
          <a:prstGeom prst="oval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811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87552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Выдача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281160" y="2331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Выбрать читателя+книгу, BR-01 проверка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10896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3291840"/>
            <a:ext cx="502920" cy="502920"/>
          </a:xfrm>
          <a:prstGeom prst="oval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3444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Возврат с просрочкой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3886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days_overdue рассчитывается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37560" y="310896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20440" y="3291840"/>
            <a:ext cx="502920" cy="502920"/>
          </a:xfrm>
          <a:prstGeom prst="oval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2044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11480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Отчёт «Просрочки»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520440" y="3886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 + экспорт CSV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17920" y="310896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0" y="3291840"/>
            <a:ext cx="502920" cy="502920"/>
          </a:xfrm>
          <a:prstGeom prst="oval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99516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1С-обмен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400800" y="3886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Импорт books.csv → отчёт СКД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663440"/>
            <a:ext cx="11247120" cy="1554480"/>
          </a:xfrm>
          <a:prstGeom prst="rect">
            <a:avLst/>
          </a:prstGeom>
          <a:solidFill>
            <a:srgbClr val="E8EEF9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Резервный план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40080" y="51663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Видео-демо (5 мин) на флэшке у тимлида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Snapshot БД сразу после T1-загрузки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Локальный билд на двух ноутбуках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Заранее экспортированные CSV в defense/h4/snapshot/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0" y="6675120"/>
            <a:ext cx="12161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6720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DOC-OPS-001 · Демо-сценарий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686800" y="6720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14 / 21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Тестирование и качество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Синтетика + golden + автотесты + ручная регрессия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274320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27432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17/17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passing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55448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554480"/>
            <a:ext cx="27432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828800"/>
            <a:ext cx="27432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/ 9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8328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ручных AC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55448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554480"/>
            <a:ext cx="27432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828800"/>
            <a:ext cx="27432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30936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покрытие FR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235440" y="1554480"/>
            <a:ext cx="2468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0" y="1554480"/>
            <a:ext cx="2468880" cy="7315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0" y="1828800"/>
            <a:ext cx="24688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→ 0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9235440" y="2468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багов закрыто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200400"/>
            <a:ext cx="5577840" cy="3108960"/>
          </a:xfrm>
          <a:prstGeom prst="rect">
            <a:avLst/>
          </a:prstGeom>
          <a:solidFill>
            <a:srgbClr val="E8EE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200400"/>
            <a:ext cx="73152" cy="3108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291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Автоматические проверки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7240" y="3703320"/>
            <a:ext cx="51206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17 кейсов: auth, books, loans, overdue, CSV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Валидаторы CSV в tests/validators/ (схемы JSON)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Golden-сверка: эталонные значения KPI на T1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Идемпотентность импорта: повторная загрузка → 0 дублей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в spec/openapi.yaml — контракт API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3200400"/>
            <a:ext cx="5577840" cy="3108960"/>
          </a:xfrm>
          <a:prstGeom prst="rect">
            <a:avLst/>
          </a:prstGeom>
          <a:solidFill>
            <a:srgbClr val="E8EE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3200400"/>
            <a:ext cx="73152" cy="3108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3291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Acceptance-чеклист (DOC-TST-001)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46520" y="3703320"/>
            <a:ext cx="51206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AC-01: Логин и роли работают, неверный пароль отвергается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AC-02..05: Полный CRUD каталога/читателей/выдач + BR-01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AC-06: Расчёт просрочки и сортировка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AC-07..08: Поиск, фильтры, дашборд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AC-09: CSV-обмен в обе стороны без потерь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AC-10: Журнал событий и snapshot БД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675120"/>
            <a:ext cx="12161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720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DOC-TST-001 · qa/acceptance_checklist.md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686800" y="6720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15 / 21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Покрытие FR-01..FR-14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Соответствие финальному ТЗ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12471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FR имеет ≥ 1 автотест и ≥ 1 ручной AC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17320" y="2103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Аутентификация JWT (3 роли)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1920" y="2103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auth.py · TS-AUTH-01..03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852160" y="2103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72200" y="21031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0" y="2103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каталога книг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464040" y="2103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books.py · TS-BOOK-01..05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84280" y="2103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26517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17320" y="2651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читателей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31920" y="2651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readers.py · TS-READ-01..03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52160" y="26517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72200" y="26517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49440" y="2651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Выдача книги (BR-01..06)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464040" y="2651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loans.py · TS-LOAN-01..04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84280" y="26517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32004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17320" y="3200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Возврат книги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93192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loans.py · TS-LOAN-05..06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52160" y="32004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72200" y="32004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49440" y="3200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просрочки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46404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reports.py · TS-OVER-01..03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84280" y="32004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" y="37490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417320" y="3749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и фильтры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93192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books/readers/loans · TS-SEARCH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52160" y="37490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172200" y="37490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49440" y="3749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 KPI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46404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reports.py · TS-DASH-01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384280" y="37490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40080" y="42976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FR-09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417320" y="4297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Импорт CSV из 1С (3 эндпоинта)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931920" y="4297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import_export.py · TS-CSV-01..04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852160" y="42976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172200" y="42976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FR-10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949440" y="4297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Экспорт CSV в 1С (2 эндпоинта)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464040" y="4297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import_export.py · TS-CSV-05..06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384280" y="42976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40080" y="48463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FR-11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417320" y="4846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по ролям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931920" y="4846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auth.py · TS-RBAC-01..03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852160" y="48463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172200" y="48463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FR-12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949440" y="4846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событий (audit_log)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464040" y="4846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models.py · TS-LOG-01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384280" y="48463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640080" y="5394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FR-13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417320" y="5394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Эндпоинт /1c/status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931920" y="5394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import_export.py · TS-INT-01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852160" y="53949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6172200" y="5394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FR-14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949440" y="5394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БД (резервная копия)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9464040" y="5394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tools/backup.py · TS-OPS-01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1384280" y="53949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0" y="6675120"/>
            <a:ext cx="12161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6720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DOC-SPC-001 · TZ · Trace matrix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686800" y="6720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16 / 21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Замер KPI на T1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целевые показатели достигнуты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0292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KPI-1 · Доля просрочек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0080" y="2194560"/>
          <a:ext cx="46634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58521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14.5% (цель ≤ 15%) ✓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9280" y="1554480"/>
            <a:ext cx="60350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52160" y="1691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Сводка по KPI-1..5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852160" y="21945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720840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Показатель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961120" y="2194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287000" y="2194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852160" y="2560320"/>
            <a:ext cx="5669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52160" y="26060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KPI-1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720840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просрочек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961120" y="2606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15%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287000" y="2606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14.5% ✓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852160" y="3154680"/>
            <a:ext cx="5669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52160" y="320040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KPI-2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720840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отчёта (T1)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961120" y="3200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сек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0287000" y="3200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0.7 сек ✓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852160" y="3749040"/>
            <a:ext cx="5669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52160" y="379476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KPI-3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720840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Идемпотентность импорта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961120" y="3794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дублей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287000" y="3794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дублей ✓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852160" y="4343400"/>
            <a:ext cx="5669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52160" y="43891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KPI-4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720840" y="4389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Покрытие FR pytest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961120" y="4389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0287000" y="4389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✓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5852160" y="4937760"/>
            <a:ext cx="5669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852160" y="498348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KPI-5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6720840" y="4983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Расхождения 1С↔API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8961120" y="4983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записей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10287000" y="4983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записей ✓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0" y="6675120"/>
            <a:ext cx="12161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7200" y="6720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DOC-GOV-001 · KPI · Замер на T1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8686800" y="6720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17 / 21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Документация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MD + 3 DOCX + 4 презентации · по DOC-STD-001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27432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27432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MD-документов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55448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554480"/>
            <a:ext cx="27432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828800"/>
            <a:ext cx="27432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8328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DOCX-копии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55448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554480"/>
            <a:ext cx="2743200" cy="7315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828800"/>
            <a:ext cx="27432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30936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PPTX/PDF (CP)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235440" y="1554480"/>
            <a:ext cx="2468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0" y="1554480"/>
            <a:ext cx="246888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0" y="1828800"/>
            <a:ext cx="24688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9235440" y="2468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разделов docs/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200400"/>
            <a:ext cx="11247120" cy="3108960"/>
          </a:xfrm>
          <a:prstGeom prst="rect">
            <a:avLst/>
          </a:prstGeom>
          <a:solidFill>
            <a:srgbClr val="E8EE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337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00-governance/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834640" y="3337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Карточка, устав, риски (10), ретроспектива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72200" y="3337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01-discovery/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66760" y="3337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Storming, персонажи, домен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3840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02-requirements/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834640" y="3840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(5), User Stories, USM, MoSCoW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3840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03-planning/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66760" y="3840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MVP-план, WBS, технико-экономическое обоснование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4343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04-architecture/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834640" y="4343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+ SVG, контекст, wireframes 9 экранов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72200" y="4343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05-data-and-integration/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66760" y="4343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ERD, словарь, контуры, контракты CSV, маппинг 1С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" y="4846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06-final-specification/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834640" y="4846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Финальное ТЗ, архитектура, сводка интеграций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72200" y="4846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07-validation-and-delivery/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366760" y="4846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Демо, runbook, пилот, acceptance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" y="5349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90-checkpoints/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834640" y="5349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CP1..CP4 + 4 презентации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72200" y="5349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98-source-materials/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366760" y="5349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Исходный текст кейса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0080" y="5852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99-standards/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834640" y="5852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 именования и версионирования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6675120"/>
            <a:ext cx="12161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6720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docs/README.md v5.0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686800" y="6720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18 / 21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Риски и митигация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рисков · метод Харрингтона · 2 закрыто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27432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2743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всего рисков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55448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554480"/>
            <a:ext cx="27432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828800"/>
            <a:ext cx="2743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8328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критический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55448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554480"/>
            <a:ext cx="2743200" cy="7315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828800"/>
            <a:ext cx="2743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30936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контролем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235440" y="1554480"/>
            <a:ext cx="2468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0" y="1554480"/>
            <a:ext cx="246888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0" y="1828800"/>
            <a:ext cx="24688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9235440" y="2377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закрыто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108960"/>
            <a:ext cx="11247120" cy="3200400"/>
          </a:xfrm>
          <a:prstGeom prst="rect">
            <a:avLst/>
          </a:prstGeom>
          <a:solidFill>
            <a:srgbClr val="E8EE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200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Топ-5 активных рисков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3657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7160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0" y="3657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Балл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Митигация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3977640"/>
            <a:ext cx="10972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023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Р-02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37160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Расхождение схем 1С и API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43600" y="4023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🔴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4088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Контракт CSV + регрессия pytest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4434840"/>
            <a:ext cx="10972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4805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Р-03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37160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Несовпадение кодировки CSV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943600" y="4480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🟡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04088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UTF-8 BOM по умолчанию + явный Charset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" y="4892040"/>
            <a:ext cx="10972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9377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Р-08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371600" y="4937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 требований куратором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943600" y="4937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🟡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040880" y="4937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MoSCoW заморожен; CR через issue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0080" y="5349240"/>
            <a:ext cx="10972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5394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Р-01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371600" y="5394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Уход / болезнь участника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943600" y="5394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🟡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040880" y="5394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Парная зона ответственности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40080" y="5806440"/>
            <a:ext cx="10972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5852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Р-05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371600" y="5852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Срыв подготовки к H4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943600" y="5852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🟡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040880" y="5852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Заморозка фич перед H4, только багфиксы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0" y="6675120"/>
            <a:ext cx="12161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6720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DOC-GOV-002 · Реестр рисков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686800" y="6720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19 / 21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Lessons learned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сработало, что не сработало, что повторим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657600" cy="4754880"/>
          </a:xfrm>
          <a:prstGeom prst="rect">
            <a:avLst/>
          </a:prstGeom>
          <a:solidFill>
            <a:srgbClr val="E8EE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365760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83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383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до реализации эндпоинта (TDD-lite)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Регулярная сверка BPMN с экранами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Issues-доска как единый backlog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554480"/>
            <a:ext cx="3657600" cy="4754880"/>
          </a:xfrm>
          <a:prstGeom prst="rect">
            <a:avLst/>
          </a:prstGeom>
          <a:solidFill>
            <a:srgbClr val="E8EE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554480"/>
            <a:ext cx="36576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783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80560" y="2468880"/>
            <a:ext cx="3383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«Красивый» BPMN сразу — сначала черновик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 документов в чате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Точечные правки React-компонентов str-replace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554480"/>
            <a:ext cx="3657600" cy="4754880"/>
          </a:xfrm>
          <a:prstGeom prst="rect">
            <a:avLst/>
          </a:prstGeom>
          <a:solidFill>
            <a:srgbClr val="E8EE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554480"/>
            <a:ext cx="36576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783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21040" y="2468880"/>
            <a:ext cx="3383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10-минутные стендапы в Telegram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Подробные PR-описания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 «один артефакт — один владелец»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«Самый полезный момент — когда мы поняли, что BPMN должен быть про бизнес-процесс, а не про клики.» — А.Е. Кирбитов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914400"/>
            <a:ext cx="109728" cy="5029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ПРОЕКТА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417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АБИС v2.2-lite — готова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05840" y="3017520"/>
            <a:ext cx="2560320" cy="1371600"/>
          </a:xfrm>
          <a:prstGeom prst="rect">
            <a:avLst/>
          </a:prstGeom>
          <a:solidFill>
            <a:srgbClr val="1E2761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1546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0584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MD-документов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49040" y="3017520"/>
            <a:ext cx="2560320" cy="1371600"/>
          </a:xfrm>
          <a:prstGeom prst="rect">
            <a:avLst/>
          </a:prstGeom>
          <a:solidFill>
            <a:srgbClr val="1E2761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31546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+ 9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74904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роутеров API + экранов UI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92240" y="3017520"/>
            <a:ext cx="2560320" cy="1371600"/>
          </a:xfrm>
          <a:prstGeom prst="rect">
            <a:avLst/>
          </a:prstGeom>
          <a:solidFill>
            <a:srgbClr val="1E2761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31546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17/17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9224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passing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235440" y="3017520"/>
            <a:ext cx="2560320" cy="1371600"/>
          </a:xfrm>
          <a:prstGeom prst="rect">
            <a:avLst/>
          </a:prstGeom>
          <a:solidFill>
            <a:srgbClr val="1E2761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0" y="31546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3544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критичных багов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49377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 за внимание!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05840" y="54864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 к вопросам и демонстрации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6126480"/>
            <a:ext cx="10698480" cy="0"/>
          </a:xfrm>
          <a:prstGeom prst="line">
            <a:avLst/>
          </a:prstGeom>
          <a:noFill/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github.com/Severenskyyy/Course · v2.2-lite-final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6583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Кирбитов А.Е. · Рабаданов А.С. · Гуков Я.Р. · Коптилин И.Р.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Хакатон 4 — Финальная защита АБИС</dc:title>
  <dc:subject>PptxGenJS Presentation</dc:subject>
  <dc:creator>Команда АБИС, Кейс 8</dc:creator>
  <cp:lastModifiedBy>Команда АБИС, Кейс 8</cp:lastModifiedBy>
  <cp:revision>1</cp:revision>
  <dcterms:created xsi:type="dcterms:W3CDTF">2026-05-09T18:31:23Z</dcterms:created>
  <dcterms:modified xsi:type="dcterms:W3CDTF">2026-05-09T18:31:23Z</dcterms:modified>
</cp:coreProperties>
</file>