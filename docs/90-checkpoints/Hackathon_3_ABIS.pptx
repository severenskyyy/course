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ХАКАТОН 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АБИС: Данные, модели и архитектура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Кейс 8 | Финальные модели и структура данных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2286000"/>
            <a:ext cx="1828800" cy="27432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5603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Кирбитов А.Е. (PL/BA)  |  Рабаданов А.С. (1С)  |  Гуков Я.Р. (FS-API)  |  Коптилин И.Р. (FS-UI)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66344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РТУ МИРЭА  |  Кейс 8  |  Апрель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Финальная BPMN-схема</a:t>
            </a:r>
            <a:endParaRPr lang="en-US" sz="2000" dirty="0"/>
          </a:p>
        </p:txBody>
      </p:sp>
      <p:pic>
        <p:nvPicPr>
          <p:cNvPr id="3" name="Picture 2" descr="bpmn_v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" y="822960"/>
            <a:ext cx="6986016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4663440"/>
            <a:ext cx="859536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1000">
                <a:solidFill>
                  <a:srgbClr val="555555"/>
                </a:solidFill>
              </a:rPr>
              <a:t>Финальная версия BPMN 2.0 · дорожки Читатель / Библиотекарь / Система АБИС · XOR-шлюзы BR-01, BR-06, контроль сроков · таймер due_date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 ER-диаграмма (7 сущностей, 3НФ)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274320" y="640080"/>
            <a:ext cx="1463040" cy="173736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347472" y="685800"/>
            <a:ext cx="131673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────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book_code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title, author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year, udk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is_available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2651760"/>
            <a:ext cx="146304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47472" y="2697480"/>
            <a:ext cx="13167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readers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────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reader_id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fio, group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email, phone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377440" y="1005840"/>
            <a:ext cx="1463040" cy="2011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450592" y="1051560"/>
            <a:ext cx="131673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────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loan_id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reader_id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book_code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issue_date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due_date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return_date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389120" y="640080"/>
            <a:ext cx="1463040" cy="182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8E44AD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62272" y="685800"/>
            <a:ext cx="131673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────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user_id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username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password_hash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role, full_name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reader_id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217920" y="640080"/>
            <a:ext cx="1463040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E74C3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291072" y="685800"/>
            <a:ext cx="13167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audit_log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────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log_id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user_id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entity_type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created_at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389120" y="2834640"/>
            <a:ext cx="1463040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F39C12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62272" y="2880360"/>
            <a:ext cx="13167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────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reserv_id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reader_id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book_code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expires_at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6217920" y="2834640"/>
            <a:ext cx="1554480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A89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291072" y="2880360"/>
            <a:ext cx="140817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────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notif_id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reader_id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loan_id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type, message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737360" y="1828800"/>
            <a:ext cx="640080" cy="0"/>
          </a:xfrm>
          <a:prstGeom prst="line">
            <a:avLst/>
          </a:prstGeom>
          <a:noFill/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828800" y="160020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1:N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 Структура базы данных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548640"/>
          <a:ext cx="85953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4114800"/>
                <a:gridCol w="1097280"/>
                <a:gridCol w="10972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Таблица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Столбцы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Тип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Ключ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book_code, title, author, year, udk, is_available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TEXT/INT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readers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reader_id, fio, group_name, email, phone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loan_id, reader_id, book_code, issue_date, due_date, return_date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PK, FK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user_id, username, password_hash, role, full_name, reader_id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PK, FK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audit_log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log_id, user_id, entity_type, entity_id, action, created_at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PK, FK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reservations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reserv_id, reader_id, book_code, reserved_at, expires_at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PK, FK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notifications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notif_id, reader_id, loan_id, type, title, message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PK, FK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274320" y="374904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— файловая БД | 7 таблиц | 10 индексов для оптимизации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 Потоки данных (DFD)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274320" y="1188720"/>
            <a:ext cx="1371600" cy="502920"/>
          </a:xfrm>
          <a:prstGeom prst="rect">
            <a:avLst/>
          </a:prstGeom>
          <a:solidFill>
            <a:srgbClr val="F39C12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274320" y="118872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Библиотекарь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2834640"/>
            <a:ext cx="1371600" cy="502920"/>
          </a:xfrm>
          <a:prstGeom prst="rect">
            <a:avLst/>
          </a:prstGeom>
          <a:solidFill>
            <a:srgbClr val="E74C3C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283464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Администратор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74320" y="3931920"/>
            <a:ext cx="1371600" cy="502920"/>
          </a:xfrm>
          <a:prstGeom prst="rect">
            <a:avLst/>
          </a:prstGeom>
          <a:solidFill>
            <a:srgbClr val="00A896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74320" y="393192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Читатель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315200" y="3657600"/>
            <a:ext cx="1371600" cy="502920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315200" y="365760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1С:Предприятие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60320" y="731520"/>
            <a:ext cx="1645920" cy="1097280"/>
          </a:xfrm>
          <a:prstGeom prst="ellipse">
            <a:avLst/>
          </a:prstGeom>
          <a:solidFill>
            <a:srgbClr val="E8F4FD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60320" y="731520"/>
            <a:ext cx="1645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Упр. каталогом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846320" y="731520"/>
            <a:ext cx="1645920" cy="1097280"/>
          </a:xfrm>
          <a:prstGeom prst="ellipse">
            <a:avLst/>
          </a:prstGeom>
          <a:solidFill>
            <a:srgbClr val="FDF2E8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731520"/>
            <a:ext cx="1645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Упр. выдачами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846320" y="2377440"/>
            <a:ext cx="1645920" cy="1097280"/>
          </a:xfrm>
          <a:prstGeom prst="ellipse">
            <a:avLst/>
          </a:prstGeom>
          <a:solidFill>
            <a:srgbClr val="F0E8FD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0" y="2377440"/>
            <a:ext cx="1645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Отчёты/KPI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560320" y="2926080"/>
            <a:ext cx="1645920" cy="1097280"/>
          </a:xfrm>
          <a:prstGeom prst="ellipse">
            <a:avLst/>
          </a:prstGeom>
          <a:solidFill>
            <a:srgbClr val="E8FDE8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560320" y="2926080"/>
            <a:ext cx="1645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обмен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315200" y="1097280"/>
            <a:ext cx="1463040" cy="182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0" y="1097280"/>
            <a:ext cx="14630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──────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БД SQLite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 Таблица маппинга данных</a:t>
            </a:r>
            <a:endParaRPr lang="en-US" sz="2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548640"/>
          <a:ext cx="87782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011680"/>
                <a:gridCol w="1371600"/>
                <a:gridCol w="2011680"/>
                <a:gridCol w="164592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Источник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Поле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Приёмник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Поле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Преобразование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books.csv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book_code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SQLite books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book_code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PK, TRIM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title, author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SQLite books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title, author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NULL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readers.csv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reader_id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SQLite readers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reader_id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PK, TRIM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fio, group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SQLite readers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fio, group_name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NULL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loans.csv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loan_id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SQLite loans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loan_id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reader_id, book_code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SQLite loans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reader_id, book_code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FK проверка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issue/due/return_date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SQLite loans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issue/due/return_date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 date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SQLite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loans.*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1С Регистр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Выдачи.*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Экспорт CSV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6. Архитектура модулей + 7. Связь данных с процессами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237744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274320" y="548640"/>
            <a:ext cx="2377440" cy="3200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5486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(Коптилин)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65760" y="91440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+ TS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+ Vite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экранов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UI-компонентов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AppContext state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926080" y="548640"/>
            <a:ext cx="237744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926080" y="548640"/>
            <a:ext cx="2377440" cy="3200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5486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(Гуков)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17520" y="91440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SQLite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JWT, 8 роутеров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модели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тесты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T1/T2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577840" y="548640"/>
            <a:ext cx="320040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577840" y="548640"/>
            <a:ext cx="3200400" cy="3200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5577840" y="5486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1С (Рабаданов)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669280" y="91440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Справочники: Книги, Читатели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Документы: Выдача, Возврат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Регистр: Выдачи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 СКД: Просрочки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Модуль: ОбменДанными.bsl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74320" y="3017520"/>
            <a:ext cx="237744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3017520"/>
            <a:ext cx="2377440" cy="320040"/>
          </a:xfrm>
          <a:prstGeom prst="rect">
            <a:avLst/>
          </a:prstGeom>
          <a:solidFill>
            <a:srgbClr val="8E44AD"/>
          </a:solidFill>
          <a:ln/>
        </p:spPr>
      </p:sp>
      <p:sp>
        <p:nvSpPr>
          <p:cNvPr id="17" name="Text 15"/>
          <p:cNvSpPr/>
          <p:nvPr/>
        </p:nvSpPr>
        <p:spPr>
          <a:xfrm>
            <a:off x="274320" y="30175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 (Гуков)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33832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T1: 250+150+600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Golden: overdue.csv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Invalid: тест ошибок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validate.py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926080" y="3017520"/>
            <a:ext cx="237744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926080" y="3017520"/>
            <a:ext cx="2377440" cy="32004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1" name="Text 19"/>
          <p:cNvSpPr/>
          <p:nvPr/>
        </p:nvSpPr>
        <p:spPr>
          <a:xfrm>
            <a:off x="2926080" y="30175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Документация (Кирбитов)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017520" y="33832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документов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ERD, DFD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ТЗ, AC чеклист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презентации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5577840" y="3017520"/>
            <a:ext cx="320040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577840" y="3017520"/>
            <a:ext cx="3200400" cy="320040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0" y="30175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Связь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669280" y="338328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 -&gt; определяет UC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ERD -&gt; определяет таблицы SQLite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DFD -&gt; определяет API endpoints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Маппинг -&gt; формат CSV обмена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 -&gt; проверяет KPI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8. Черновик ТЗ / набор ЧТЗ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274320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274320" y="548640"/>
            <a:ext cx="64008" cy="19202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62179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 (5)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книг/читателей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Выдачи/возвраты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 Просрочки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00400" y="548640"/>
            <a:ext cx="274320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00400" y="548640"/>
            <a:ext cx="64008" cy="1920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9" name="Text 7"/>
          <p:cNvSpPr/>
          <p:nvPr/>
        </p:nvSpPr>
        <p:spPr>
          <a:xfrm>
            <a:off x="3383280" y="62179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 (4)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383280" y="100584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books/readers/loans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Объём &gt;=200/120/400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+ валидации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26480" y="548640"/>
            <a:ext cx="274320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126480" y="548640"/>
            <a:ext cx="64008" cy="19202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0" y="62179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(3)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09360" y="100584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Фильтры: период/группа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Экспорт CSV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экранов прототипа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2743200"/>
            <a:ext cx="274320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2743200"/>
            <a:ext cx="64008" cy="1920240"/>
          </a:xfrm>
          <a:prstGeom prst="rect">
            <a:avLst/>
          </a:prstGeom>
          <a:solidFill>
            <a:srgbClr val="8E44AD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281635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44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(2)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320040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/api/reports/overdue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/api/loans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 spec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0" y="2743200"/>
            <a:ext cx="274320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00400" y="2743200"/>
            <a:ext cx="64008" cy="192024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21" name="Text 19"/>
          <p:cNvSpPr/>
          <p:nvPr/>
        </p:nvSpPr>
        <p:spPr>
          <a:xfrm>
            <a:off x="3383280" y="281635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 (4)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383280" y="320040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 &lt; 3 сек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Синтетика без ПДн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Идемпотентность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3 роли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126480" y="2743200"/>
            <a:ext cx="274320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126480" y="2743200"/>
            <a:ext cx="64008" cy="192024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5" name="Text 23"/>
          <p:cNvSpPr/>
          <p:nvPr/>
        </p:nvSpPr>
        <p:spPr>
          <a:xfrm>
            <a:off x="6309360" y="281635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 (9)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309360" y="320040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Импорт T1 корректен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Просрочка верна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Блокировка дублей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Экспорт CSV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Итоги Хакатона 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Готово: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143000"/>
            <a:ext cx="91440" cy="9144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0789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Финальная BPMN (3 swim-lanes)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7240" y="1472184"/>
            <a:ext cx="91440" cy="9144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140817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ERD: 7 сущностей, 3НФ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77240" y="1801368"/>
            <a:ext cx="91440" cy="9144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1737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БД: 7 таблиц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77240" y="2130552"/>
            <a:ext cx="91440" cy="9144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2066544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DFD: 4 процесса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77240" y="2459736"/>
            <a:ext cx="91440" cy="9144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23957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Маппинг данных (9 строк)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77240" y="2788920"/>
            <a:ext cx="91440" cy="9144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272491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модулей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77240" y="3118104"/>
            <a:ext cx="91440" cy="9144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8" name="Text 16"/>
          <p:cNvSpPr/>
          <p:nvPr/>
        </p:nvSpPr>
        <p:spPr>
          <a:xfrm>
            <a:off x="960120" y="305409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Черновик ТЗ (6 категорий)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7240" y="3447288"/>
            <a:ext cx="91440" cy="9144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" y="3383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T1: 250+150+600 записей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54880" y="777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9C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Хакатона 4: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800600" y="1143000"/>
            <a:ext cx="91440" cy="91440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23" name="Text 21"/>
          <p:cNvSpPr/>
          <p:nvPr/>
        </p:nvSpPr>
        <p:spPr>
          <a:xfrm>
            <a:off x="4983480" y="10789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+ CRUD + выдачи/возвраты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00600" y="1472184"/>
            <a:ext cx="91440" cy="91440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25" name="Text 23"/>
          <p:cNvSpPr/>
          <p:nvPr/>
        </p:nvSpPr>
        <p:spPr>
          <a:xfrm>
            <a:off x="4983480" y="140817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UI: все 9 экранов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800600" y="1801368"/>
            <a:ext cx="91440" cy="91440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27" name="Text 25"/>
          <p:cNvSpPr/>
          <p:nvPr/>
        </p:nvSpPr>
        <p:spPr>
          <a:xfrm>
            <a:off x="4983480" y="1737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1С: формы + отчёт СКД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00600" y="2130552"/>
            <a:ext cx="91440" cy="91440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29" name="Text 27"/>
          <p:cNvSpPr/>
          <p:nvPr/>
        </p:nvSpPr>
        <p:spPr>
          <a:xfrm>
            <a:off x="4983480" y="2066544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CSV-обмен Backend &lt;-&gt; 1С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800600" y="2459736"/>
            <a:ext cx="91440" cy="91440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31" name="Text 29"/>
          <p:cNvSpPr/>
          <p:nvPr/>
        </p:nvSpPr>
        <p:spPr>
          <a:xfrm>
            <a:off x="4983480" y="23957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тесты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800600" y="2788920"/>
            <a:ext cx="91440" cy="91440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33" name="Text 31"/>
          <p:cNvSpPr/>
          <p:nvPr/>
        </p:nvSpPr>
        <p:spPr>
          <a:xfrm>
            <a:off x="4983480" y="272491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Демо-сценарий + видео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800600" y="3118104"/>
            <a:ext cx="91440" cy="91440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35" name="Text 33"/>
          <p:cNvSpPr/>
          <p:nvPr/>
        </p:nvSpPr>
        <p:spPr>
          <a:xfrm>
            <a:off x="4983480" y="305409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Финальное ТЗ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800600" y="3447288"/>
            <a:ext cx="91440" cy="91440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37" name="Text 35"/>
          <p:cNvSpPr/>
          <p:nvPr/>
        </p:nvSpPr>
        <p:spPr>
          <a:xfrm>
            <a:off x="4983480" y="3383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Презентация защиты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Хакатон 3 — АБИС</dc:title>
  <dc:subject>PptxGenJS Presentation</dc:subject>
  <dc:creator>PptxGenJS</dc:creator>
  <cp:lastModifiedBy>PptxGenJS</cp:lastModifiedBy>
  <cp:revision>1</cp:revision>
  <dcterms:created xsi:type="dcterms:W3CDTF">2026-04-13T06:28:39Z</dcterms:created>
  <dcterms:modified xsi:type="dcterms:W3CDTF">2026-04-13T06:28:39Z</dcterms:modified>
</cp:coreProperties>
</file>