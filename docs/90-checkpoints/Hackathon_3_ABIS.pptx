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Просрочки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В сроке</c:v>
                </c:pt>
                <c:pt idx="1">
                  <c:v>Просрочено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Отчёт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 выдач</c:v>
                  </c:pt>
                  <c:pt idx="1">
                    <c:v>300 выдач</c:v>
                  </c:pt>
                  <c:pt idx="2">
                    <c:v>600 выдач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410</c:v>
                </c:pt>
                <c:pt idx="2">
                  <c:v>720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09728" cy="3657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АБИС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00584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каталога, выдач и просрочек учебной библиотеки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Integration · Релиз v2.2-lite-rc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486400"/>
            <a:ext cx="10698480" cy="0"/>
          </a:xfrm>
          <a:prstGeom prst="line">
            <a:avLst/>
          </a:prstGeom>
          <a:noFill/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РТУ МИРЭА · Дисциплина «Основы проектной деятельности» · Кейс 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Кирбитов А.Е. · Рабаданов А.С. · Гуков Я.Р. · Коптилин И.Р.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Команда и роли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8 · 4 человека · фиксированные зоны ответственности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91440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Кирбитов А.Е.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Тимлид / Аналитик (BA/SA + PL)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Анализ, документация, ТЗ, защиты, координация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554480"/>
            <a:ext cx="9144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Рабаданов А.С.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1С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606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1С, BSL-модули, регистр сведений, отчёт СКД, CSV-обмен 1С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31920"/>
            <a:ext cx="91440" cy="21031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Гуков Я.Р.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— FS-API / FS-Data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SQLite, JWT, REST-роутеры, генерация T1, валидаторы, pytest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931920"/>
            <a:ext cx="91440" cy="2103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Коптилин И.Р.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92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— FS-UI / Demo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Vite, 9 экранов, связка с API, OpenAPI, демо-сценарий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АБИС · Кейс 8 · Хакатон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покажем сегодня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Повестка защиты Хакатона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Финальное техническое задание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разделов по шаблону РТУ МИРЭА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решения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3-звенка + 1С через CSV-обмен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сборка v2.2-lite-rc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(8 роутеров) + Frontend (9 экранов)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1С-подсистема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3520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Справочники, документы, регистр, отчёт СКД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CSV-обмен с 1С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4160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импорта + 2 экспорта + статус, идемпотентность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754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 T1 + pytest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/ 150 / 600 + 17 тестов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394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5394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на Хакатон 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00800" y="5440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доводим до финальной защиты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АБИС · Кейс 8 · Хакатон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Финальное ТЗ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шаблону РТУ МИРЭА · 14 разделов · DOC-SPC-001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760720" cy="484632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4846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документа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Общие сведения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Назначение и цели создания системы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Характеристики объектов автоматизации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Требования к системе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Состав и содержание работ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Порядок контроля и приёмки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Подготовка к вводу в действие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Требования к документированию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Источники разработки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Требования к ПО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Требования к ТО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Информационное обеспечение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Организационное обеспечение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Методическое обеспечение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55448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554480"/>
            <a:ext cx="73152" cy="4846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фиксирует ТЗ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14884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FR-01…FR-14 — функциональные требования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AC-01…AC-09 — критерии приёмки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Сущности: books / readers / loans + 4 служебные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Бизнес-правила BR-01…BR-06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Контракты CSV: I-01…I-05 (UTF-8 BOM, ;)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Стек: React 18 + FastAPI + SQLite + 1С 8.3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KPI: ≤ 15% просрочек, ≤ 3 сек отчёт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работ — 4 этапа по хакатонам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DOC-SPC-001 · ТЗ · v1.0 Final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решения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3-звенка + 1С через CSV-обмен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200400" cy="1463040"/>
          </a:xfrm>
          <a:prstGeom prst="rect">
            <a:avLst/>
          </a:prstGeom>
          <a:solidFill>
            <a:srgbClr val="E8EEF9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 · Tailwind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экранов · single-file dist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Home · Catalog · Readers · Loans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· Integration · Profile · Settings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200400" cy="1463040"/>
          </a:xfrm>
          <a:prstGeom prst="rect">
            <a:avLst/>
          </a:prstGeom>
          <a:solidFill>
            <a:srgbClr val="E8EEF9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SQLite · JWT · bcrypt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роутеров · 17 pytest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books · readers · loans · reports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import_export · reservations · notifications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200400" cy="1463040"/>
          </a:xfrm>
          <a:prstGeom prst="rect">
            <a:avLst/>
          </a:prstGeom>
          <a:solidFill>
            <a:srgbClr val="E8EEF9"/>
          </a:solidFill>
          <a:ln w="25400">
            <a:solidFill>
              <a:srgbClr val="F2C9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1С:Предприятие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учебная · BSL · СКД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Параллельная учётная подсистема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Книги · Читатели · ВыдачаКниги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ВозвратКниги · Регистр · Отчёт «Просрочки»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0" y="2560320"/>
            <a:ext cx="64008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80960" y="2560320"/>
            <a:ext cx="64008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84048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JWT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8096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BOM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80560" y="4023360"/>
            <a:ext cx="32004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 — library.db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80760" y="3291840"/>
            <a:ext cx="0" cy="73152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0080" y="5074920"/>
            <a:ext cx="3657600" cy="1325880"/>
          </a:xfrm>
          <a:prstGeom prst="rect">
            <a:avLst/>
          </a:prstGeom>
          <a:solidFill>
            <a:srgbClr val="E8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074920"/>
            <a:ext cx="73152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Веб-интерфейс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5577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Библиотекарь работает в браузере: каталог, выдачи, отчёт «Просрочки».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5074920"/>
            <a:ext cx="3657600" cy="1325880"/>
          </a:xfrm>
          <a:prstGeom prst="rect">
            <a:avLst/>
          </a:prstGeom>
          <a:solidFill>
            <a:srgbClr val="E8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5074920"/>
            <a:ext cx="73152" cy="1325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+ JWT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63440" y="5577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по ролям admin/librarian/reader. Все операции через API.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321040" y="5074920"/>
            <a:ext cx="3657600" cy="1325880"/>
          </a:xfrm>
          <a:prstGeom prst="rect">
            <a:avLst/>
          </a:prstGeom>
          <a:solidFill>
            <a:srgbClr val="E8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5074920"/>
            <a:ext cx="73152" cy="132588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5184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CSV-обмен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03920" y="5577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Идемпотентный импорт/экспорт между API и 1С. UTF-8 BOM, разделитель ;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DOC-SPC-002 · Архитектура решения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ERD — логическая модель данных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сущностей · 3НФ · DOC-DAT-001</a:t>
            </a:r>
            <a:endParaRPr lang="en-US" sz="1400" dirty="0"/>
          </a:p>
        </p:txBody>
      </p:sp>
      <p:pic>
        <p:nvPicPr>
          <p:cNvPr id="6" name="Image 0" descr="/home/claude/output/Course_Final/docs/04-architecture/image/06-ERD-mediflow-sty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DOC-DAT-001 · ERD · 7 сущностей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BPMN — выдача · возврат · просрочка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диаграммы · BR-01..BR-06 · DOC-ARC-001</a:t>
            </a:r>
            <a:endParaRPr lang="en-US" sz="1400" dirty="0"/>
          </a:p>
        </p:txBody>
      </p:sp>
      <p:pic>
        <p:nvPicPr>
          <p:cNvPr id="6" name="Image 0" descr="/home/claude/output/Course_Final/docs/04-architecture/image/07-BPMN-mediflow-sty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371600"/>
            <a:ext cx="8503920" cy="5074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DOC-ARC-001 · BPMN 2.0 · 4 swim lanes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UML Class — связь компонентов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Доменные классы Backend + контексты Frontend · DOC-ARC-004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77840" cy="475488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4754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(FastAPI / SQLAlchemy)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103120"/>
            <a:ext cx="54864" cy="56692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48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3591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«PK», role: UserRole, password_hash, reader_id «FK»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2761488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61488"/>
            <a:ext cx="5486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072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0175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reader_id «PK», fio, group · borrows → Loan «1..*»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" y="3419856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419856"/>
            <a:ext cx="5486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655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6758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book_code «PK», title, author, year, udk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" y="4078224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078224"/>
            <a:ext cx="54864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1239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3342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 «PK», reader_id «FK», book_code «FK», даты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is_active() + days_overdue()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" y="4736592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736592"/>
            <a:ext cx="54864" cy="566928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7823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AuditLog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9926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«PK», user_id, entity_type, action, details, timestamp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5800" y="5394960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394960"/>
            <a:ext cx="54864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440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«service» LoanService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6509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create() + return() + check_BR01..06()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26480" y="1554480"/>
            <a:ext cx="5577840" cy="475488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1554480"/>
            <a:ext cx="73152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(React + TypeScript)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2103120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2103120"/>
            <a:ext cx="54864" cy="7132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148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«context» AuthContext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token, role · login() · logout() · isAuthorized(role)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55080" y="2907792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2907792"/>
            <a:ext cx="54864" cy="7132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9535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«HOC» RoleGuard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31821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render(children, allowedRoles[]) · оборачивает Page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3712464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3712464"/>
            <a:ext cx="54864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37581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«service» ApiClient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92240" y="39867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baseUrl, token · get / post / put / delete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55080" y="4517136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4517136"/>
            <a:ext cx="54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45628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«abstract» Page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92240" y="47914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страниц: Login, Home, Catalog, Readers, Loans,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Overdue, Integration, Profile, Settings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355080" y="5321808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5321808"/>
            <a:ext cx="54864" cy="7132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53675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92240" y="5596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BookCard, LoanForm, KpiWidget, OverdueTable, CsvUploader, Navbar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Связь: AuthContext / ApiClient ──HTTPS+JWT──► Backend Routers ──ORM──► SQLite. LoanService инкапсулирует BR-01..BR-06.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DOC-ARC-004 · UML Class · RoadMap CP4 п.3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DFD — поток данных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0 (контекстная диаграмма) · DOC-INT-001</a:t>
            </a:r>
            <a:endParaRPr lang="en-US" sz="1400" dirty="0"/>
          </a:p>
        </p:txBody>
      </p:sp>
      <p:pic>
        <p:nvPicPr>
          <p:cNvPr id="6" name="Image 0" descr="/home/claude/output/Course_Final/docs/04-architecture/image/08-DFD-level0-mediflow-sty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DOC-INT-001 · DFD-0 · 5 процессов · 4 хранилища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09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DFD — декомпозиция «Управление выдачами»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 · 6 подпроцессов 1.1–1.6</a:t>
            </a:r>
            <a:endParaRPr lang="en-US" sz="1400" dirty="0"/>
          </a:p>
        </p:txBody>
      </p:sp>
      <p:pic>
        <p:nvPicPr>
          <p:cNvPr id="6" name="Image 0" descr="/home/claude/output/Course_Final/docs/04-architecture/image/09-DFD-level1-mediflow-sty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DOC-INT-001 · DFD-1 · BR-01..BR-06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Storming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Доменные события · 3 сюжета · BC + Layers · DOC-DIS-001</a:t>
            </a:r>
            <a:endParaRPr lang="en-US" sz="1400" dirty="0"/>
          </a:p>
        </p:txBody>
      </p:sp>
      <p:pic>
        <p:nvPicPr>
          <p:cNvPr id="6" name="Image 0" descr="/home/claude/output/Course_Final/docs/04-architecture/image/10-EventStorming-mediflow-sty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1247120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DOC-DIS-001 · Event Storming · 3 сюжета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— FastAPI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роутеров · 17 pytest · JWT · SQLite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роутеров 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54480"/>
            <a:ext cx="27432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2880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/ 17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passing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55448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28800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(RBAC)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5544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554480"/>
            <a:ext cx="246888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82880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28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23544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методов 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91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backend/app/routers/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· refresh · logout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4023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по книгам, поиск, фильтры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readers.py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4343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по читателям, поиск по ФИО/группе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loans.py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66160" y="4663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(POST), возврат (PATCH), история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reports.py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6160" y="4983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/reports/kpi · /reports/overdue · /audit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import_export.py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5303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/import/{books|readers|loans} · GET /export/{books|overdue}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reservations.py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66160" y="5623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Бронирование (Could-have)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5943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notifications.py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66160" y="5943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(Could-have)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backend/app/ · spec/openapi.yaml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— React 18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экранов · single-file build · 200 КБ dist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LoginPage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JWT-авторизация, 3 демо-логина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73736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HomePage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240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KPI: книги/читатели/выдачи/просрочки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73736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CatalogPage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2240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книг, поиск, фильтры, проверка BR-01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24612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ReadersPage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читателей, поиск ФИО/группа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0632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24612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7492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LoansPage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/ возврат, цвет по сроку, BR-01..BR-06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30632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24612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154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OverduePage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21040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«Просрочки», фильтры, экспорт CSV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75488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3444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IntegrationPage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5257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1С-обмен: 3 импорта + 2 экспорта + статус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0" y="45720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475488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7492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ProfilePage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480560" y="5257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кабинет, смена пароля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38160" y="45720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4754880"/>
            <a:ext cx="457200" cy="457200"/>
          </a:xfrm>
          <a:prstGeom prst="oval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210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1540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SettingsPage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321040" y="5257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админа: лимиты, кодировки CSV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src/pages/*.tsx · DOC-ARC-003 · Wireframes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1С:Предприятие 8.3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· BSL · отчёт СКД · 1Cv8.dt 60 КБ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77840" cy="1280160"/>
          </a:xfrm>
          <a:prstGeom prst="rect">
            <a:avLst/>
          </a:prstGeom>
          <a:solidFill>
            <a:srgbClr val="E8EEF9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Справочник «Книги»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· Название · Автор книги · Год издания · УДК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577840" cy="1280160"/>
          </a:xfrm>
          <a:prstGeom prst="rect">
            <a:avLst/>
          </a:prstGeom>
          <a:solidFill>
            <a:srgbClr val="E8EEF9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237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Справочник «Читатели»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· Фамилия и инициалы · Учебная группа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5577840" cy="1280160"/>
          </a:xfrm>
          <a:prstGeom prst="rect">
            <a:avLst/>
          </a:prstGeom>
          <a:solidFill>
            <a:srgbClr val="E8EEF9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00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Документ «ВыдачаКниги»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Регистрирует выдачу: дата, читатель, экземпляр, срок возврата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017520"/>
            <a:ext cx="5577840" cy="1280160"/>
          </a:xfrm>
          <a:prstGeom prst="rect">
            <a:avLst/>
          </a:prstGeom>
          <a:solidFill>
            <a:srgbClr val="E8EEF9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200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2237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Документ «ВозвратКниги»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Закрывает выдачу: дата возврата, расчёт дней просрочки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5577840" cy="1463040"/>
          </a:xfrm>
          <a:prstGeom prst="rect">
            <a:avLst/>
          </a:prstGeom>
          <a:solidFill>
            <a:srgbClr val="E8EEF9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177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37160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Регистр сведений «Выдачи»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текущих активных выдач: книга → читатель → срок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Используется в отчёте СКД для расчёта days_overdue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480560"/>
            <a:ext cx="5577840" cy="1463040"/>
          </a:xfrm>
          <a:prstGeom prst="rect">
            <a:avLst/>
          </a:prstGeom>
          <a:solidFill>
            <a:srgbClr val="E8EEF9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6177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22376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Отчёт СКД «Просрочки»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2376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по группе, периоду, дням просрочки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376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в CSV для последующей передачи в backend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Артефакт: 1c/1Cv8.dt (60 КБ) — единый дамп информационной базы. Распаковка через Конфигуратор.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1c/README.md · DOC-INT-003 · Маппинг 1С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CSV-обмен с 1С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Идемпотентный · UTF-8 BOM · разделитель «;»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286000" cy="914400"/>
          </a:xfrm>
          <a:prstGeom prst="rect">
            <a:avLst/>
          </a:prstGeom>
          <a:solidFill>
            <a:srgbClr val="F2C94C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1С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418320" y="1554480"/>
            <a:ext cx="2286000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1783080"/>
            <a:ext cx="667512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743200" y="13258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Импорты (1С → Backend)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18320" y="2331720"/>
            <a:ext cx="-667512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743200" y="24688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Экспорты (Backend → 1С)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194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21945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books.csv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book_code; title; author; year; udk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88920" y="3108960"/>
            <a:ext cx="2194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3108960"/>
            <a:ext cx="21945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readers.csv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reader_id; fio; group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3108960"/>
            <a:ext cx="2194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3108960"/>
            <a:ext cx="21945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loans.csv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loan_id; reader_id; book_code; даты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3108960"/>
            <a:ext cx="2194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3108960"/>
            <a:ext cx="21945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books_*.csv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8952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экспорт каталога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84080" y="3108960"/>
            <a:ext cx="2194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3108960"/>
            <a:ext cx="21945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2124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2124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overdue_*.csv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2124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полей включая days_overdue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937760"/>
            <a:ext cx="3657600" cy="1371600"/>
          </a:xfrm>
          <a:prstGeom prst="rect">
            <a:avLst/>
          </a:prstGeom>
          <a:solidFill>
            <a:srgbClr val="E8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937760"/>
            <a:ext cx="73152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047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Идемпотентность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" y="5440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по PK; повторный CSV — 0 дублей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297680" y="4937760"/>
            <a:ext cx="3657600" cy="1371600"/>
          </a:xfrm>
          <a:prstGeom prst="rect">
            <a:avLst/>
          </a:prstGeom>
          <a:solidFill>
            <a:srgbClr val="E8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97680" y="4937760"/>
            <a:ext cx="73152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0560" y="5047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Кодировки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80560" y="5440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BOM по умолчанию, cp1251 опц.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138160" y="4937760"/>
            <a:ext cx="3657600" cy="1371600"/>
          </a:xfrm>
          <a:prstGeom prst="rect">
            <a:avLst/>
          </a:prstGeom>
          <a:solidFill>
            <a:srgbClr val="E8EE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4937760"/>
            <a:ext cx="73152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1040" y="5047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Конверсия кодов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321040" y="5440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1С: 000000001 ↔ Backend: BK0001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DOC-INT-002 · Контракты обмена · DOC-SPC-003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Тестовые данные T1 + pytest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Синтетика + golden-сверка + 17 автотестов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 (T1)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54480"/>
            <a:ext cx="27432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2880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читателей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554480"/>
            <a:ext cx="274320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2880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155448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554480"/>
            <a:ext cx="246888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82880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17/17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23544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5577840" cy="301752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91840"/>
            <a:ext cx="73152" cy="3017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data/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374904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 — основной набор: books.csv, readers.csv, loans.csv (601 строка)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golden/ — эталонные срезы для KPI-сверки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invalid/ — заведомо ошибочные примеры (для тестов валидации)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schemas/ — JSON-схемы валидации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generate_data.py — генератор синтетики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реальных пар «автор — название» (Толстой, Пушкин и др.)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291840"/>
            <a:ext cx="5577840" cy="301752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3291840"/>
            <a:ext cx="73152" cy="3017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backend/tests/test_abis.py — 17 кейсов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6520" y="374904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hash, токены, роли (4 теста)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Books: создание, валидация года, пустое название (3)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Loans: BR-01, due_date &lt; issue_date, ограничения (4)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Overdue: расчёт active / returned / no overdue (3)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CSV: data exists, минимум записей, golden (3)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Прогон: backend/tests $ pytest -v → ✅ 17 / 17 passing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+ backend/tests/test_abis.py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на T1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Замеры на фактических 600 выдачах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029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KPI-1 · Доля просроченных выдач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2194560"/>
          <a:ext cx="4663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852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≤ 15% · Факт: ≈ 14.5% 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1554480"/>
            <a:ext cx="6035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1691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KPI-2 · Время отчёта (мс)</a:t>
            </a:r>
            <a:endParaRPr lang="en-US" sz="14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5852160" y="2148840"/>
          <a:ext cx="56692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5669280" y="4480560"/>
            <a:ext cx="6035040" cy="182880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52160" y="4572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KPI-3..5 · сводка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85216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858000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Идемпотентность импорта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058400" y="5029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дублей ✓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852160" y="5440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KPI-4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85800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FR автотестами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05840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✓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852160" y="5852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KPI-5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85800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Расхождения после CSV-обмена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058400" y="5852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записей ✓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/api/reports/kpi · golden-сверка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 на Хакатон 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доводим до финальной защиты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Этап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1691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Заморозка фич v2.2-lite-rc → v2.2-lite. Ретроспектива H3. Сбор обратной связи куратора.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1247120" cy="100584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97480"/>
            <a:ext cx="731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Этап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2834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Документация: DOC-OPS-003 (план пилота), DOC-SPC-003 (сводка интеграций). Обновление DOC-GOV-002 (риски Р-07, Р-09 → закрыты).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100584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40480"/>
            <a:ext cx="731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Этап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3977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Демо-сценарий: 7 шагов end-to-end. Регрессия pytest 17/17. Видео-резерв (5 мин). Презентация H4 + одностраничная шпаргалка.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11247120" cy="1005840"/>
          </a:xfrm>
          <a:prstGeom prst="rect">
            <a:avLst/>
          </a:prstGeom>
          <a:solidFill>
            <a:srgbClr val="E8EE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983480"/>
            <a:ext cx="73152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Защита H4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51206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защита: продукт v2.2-lite + полный пакет документации (35 MD + 3 DOCX). Ответы на вопросы комиссии.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7512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720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DOC-PLN-001 · DOC-PLN-002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6720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Хакатон 3 — АБИС</dc:title>
  <dc:subject>PptxGenJS Presentation</dc:subject>
  <dc:creator>Команда АБИС, Кейс 8</dc:creator>
  <cp:lastModifiedBy>Команда АБИС, Кейс 8</cp:lastModifiedBy>
  <cp:revision>1</cp:revision>
  <dcterms:created xsi:type="dcterms:W3CDTF">2026-05-09T18:31:21Z</dcterms:created>
  <dcterms:modified xsi:type="dcterms:W3CDTF">2026-05-09T18:31:21Z</dcterms:modified>
</cp:coreProperties>
</file>